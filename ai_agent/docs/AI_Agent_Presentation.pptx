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Maryline opens: greet, one sentence on what the agent is, introduce the three members and roles. 30 seconds 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Maryline: the pain (manual multi-table lookups), then the four capabilities. Mention the safety-critical framing: decision support, not authority.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Maryline: walk the stack top-down in 30s, then land on the right column: the LLM's only job is classification — this is the anti-hallucination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Maryline: one sentence per card — category, what it does, error behavior. The examiner grades tool correctness at 20%, so stress validation + reproducibility.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Maryline: this answers a guaranteed Q&amp;A question. Small + structured + enumerable =&gt; SQL beats embeddings. Then hand over to the demo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one line ('everything you'll see runs from a single docker command'), then play the video. Do not talk over it — it is already narrated.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Aseel: trace one turn through the flow, then the four safety cards. Key sentence: the confirmation gate is graph structure, not prompt wording.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Aseel: the six working-memory fields are a spec requirement — name them while pointing at the middle card. Long-term memory is the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Aseel: stats first (pause on the 0), then Docker. If asked for metric values, Hana has the eval_report.json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Aseel closes with the contributions and invites questions. All three stand for Q&amp;A — Hana fields Docker/memory/eval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Domain-Specific AI Agent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Operations AI Agent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Educational Support Agent (application area #17) built on the University Management System database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2A387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950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Maryline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43342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Engineer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46268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· database · grounding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37490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2A3878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3950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Aseel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43342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Engineer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46268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safety · prompts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37490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2A3878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3950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43342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Interface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46268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· UI · Docker · demo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806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— Dr. Mohamad Aoude · Faculty of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solve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staff constantly ask the registrar the same questions: course details, policies, eligibility, enrollment, reports. Each answer requires checking several database tables by hand.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agent answers these from the real database, runs the checks deterministically, and executes enrollment safely — with a human confirmation gate.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97764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4251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area #17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4572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Support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5074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Decision-support, not an authoritative system: it states sources, communicates limits, and escalates to staff.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3441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15727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policies, instructors, programs — every fact from SQLite / policies.json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255117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2441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analysis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27797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Eligibility: prerequisites, capacity, balance, duplicates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75818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36484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actions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39867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executes only after explicit user confirmation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4965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965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8554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51937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Transcripts, GPA summaries, payroll, institution reports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Maryline   ·   2/10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layers, one container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03504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6187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Chat interface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63240" y="126187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+ live workflow/memory panels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6035040" cy="640080"/>
          </a:xfrm>
          <a:prstGeom prst="roundRect">
            <a:avLst>
              <a:gd name="adj" fmla="val 11429"/>
            </a:avLst>
          </a:prstGeom>
          <a:solidFill>
            <a:srgbClr val="2A387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Orchestration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201168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machine: routing, gates, stopping rules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88336"/>
            <a:ext cx="603504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6148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LLM 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276148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llama3.1 (local, no API key) — classifies intent 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6035040" cy="640080"/>
          </a:xfrm>
          <a:prstGeom prst="roundRect">
            <a:avLst>
              <a:gd name="adj" fmla="val 11429"/>
            </a:avLst>
          </a:prstGeom>
          <a:solidFill>
            <a:srgbClr val="2A387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11296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Tools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351129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typed tools: information, analysis, action, reporting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87952"/>
            <a:ext cx="603504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6110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Memory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63240" y="426110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+ working memory; long-term (bonus)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6035040" cy="640080"/>
          </a:xfrm>
          <a:prstGeom prst="roundRect">
            <a:avLst>
              <a:gd name="adj" fmla="val 11429"/>
            </a:avLst>
          </a:prstGeom>
          <a:solidFill>
            <a:srgbClr val="2A387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1091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63240" y="501091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(existing UMS schema) + structured policies.json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687568"/>
            <a:ext cx="603504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76072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Container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63240" y="576072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ollama + model-pull + agent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1371600"/>
            <a:ext cx="4709160" cy="1371600"/>
          </a:xfrm>
          <a:prstGeom prst="roundRect">
            <a:avLst>
              <a:gd name="adj" fmla="val 6667"/>
            </a:avLst>
          </a:prstGeom>
          <a:solidFill>
            <a:srgbClr val="F4F7FE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1536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never writes facts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23760" y="1874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classifies intent and extracts entities as JSON. Every fact in a reply comes from a tool result.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2971800"/>
            <a:ext cx="4709160" cy="1371600"/>
          </a:xfrm>
          <a:prstGeom prst="roundRect">
            <a:avLst>
              <a:gd name="adj" fmla="val 6667"/>
            </a:avLst>
          </a:prstGeom>
          <a:solidFill>
            <a:srgbClr val="F4F7FE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3136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below the LLM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223760" y="34747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validation, tools, and phrasing are plain code — testable without a model.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49440" y="4572000"/>
            <a:ext cx="4709160" cy="1371600"/>
          </a:xfrm>
          <a:prstGeom prst="roundRect">
            <a:avLst>
              <a:gd name="adj" fmla="val 6667"/>
            </a:avLst>
          </a:prstGeom>
          <a:solidFill>
            <a:srgbClr val="F4F7FE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4736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model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223760" y="50749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and model are environment variables; OpenAI/Anthropic are optional fallbacks.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Maryline   ·   3/10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required tools (+ five bonus)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4F7F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6304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get_university_information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0370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lookups: courses, policies, instructors, programs, sections, semesters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found=false on unknown input — never a guess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4F7FE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46304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463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37960" y="18928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analyze_enrollment_eligibility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20370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rules: prerequisites, section capacity, account balance, duplicate enrollment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37960" y="27706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verdict — fully reproducible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4F7F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61188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118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create_enrollment_request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35254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Two-phase: preview (confirm=false, no write) then execute (confirm=true) after user says yes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49194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Re-validates before writing; fee deducted atomically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33832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4F7FE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361188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6118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79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generate_student_report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435254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summary, GPA summary, academic standing, recommendations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37960" y="49194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+ formatted text, ready for handoff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tools: </a:t>
            </a:r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prediction · study planner · payroll report · section utilization · institution report — plus a handoff-ticket tool for human escalation. Every tool has a pydantic input schema, typed output, and defined error behavior.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Maryline   ·   4/10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grounding — why we didn't use RAG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knowledge source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the existing UMS schema: students, courses, prerequisites, sections, enrollments, grades, accounts, instructors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policies.json — human-authored policy text with exact values (fees, GPA thresholds, deadlines)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only through deterministic, typed tools — exact SQL, no similarity search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precise, reproducible, auditable answers — the same question always returns the same values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0" y="123444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4F7FE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4630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would be the wrong tool here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0" y="18288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is small, fully structured, and exactly enumerable. Embeddings add infrastructure and nondeterminism to answer the same questions less precisely — and a retrieved paragraph can't be joined, summed, or re-validated like a row can.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4F7FE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977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RAG would start to pay off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43434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unstructured corpora: a multi-hundred-page academic handbook, accreditation documents, free-text advising notes. Even then it would complement the tools — exact values stay structured.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Maryline   ·   5/10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Recorded live demo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one take on one laptop · docker compose up · llama3.1 running locally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40487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04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2194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&amp; analysis   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voiced by Maryline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606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CE410 lookup · eligibility check with exact failure reasons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73075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30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3520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actions &amp; fallbacks   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voiced by Aseel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91640" y="3931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with confirmation gate · duplicate rejected · out-of-domain refusal · human handoff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505663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4846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evaluation   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voiced by Hana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5257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defaults · working-memory panel · eval suite: 35 cases, 0 unsafe actions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989320"/>
            <a:ext cx="10515600" cy="502920"/>
          </a:xfrm>
          <a:prstGeom prst="roundRect">
            <a:avLst>
              <a:gd name="adj" fmla="val 18182"/>
            </a:avLst>
          </a:prstGeom>
          <a:solidFill>
            <a:srgbClr val="2A387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Play demo_final.mp4 here (≈ 6 minutes)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 ·   6/10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explicit state machine, not a free agent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41732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85416" y="1371600"/>
            <a:ext cx="141732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185416" y="13716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57016" y="13716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22192" y="1371600"/>
            <a:ext cx="141732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822192" y="13716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93792" y="13716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58968" y="1371600"/>
            <a:ext cx="141732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58968" y="13716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30568" y="13716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95744" y="1371600"/>
            <a:ext cx="141732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095744" y="13716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67344" y="13716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732520" y="1371600"/>
            <a:ext cx="141732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732520" y="13716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104120" y="13716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369296" y="1371600"/>
            <a:ext cx="141732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0369296" y="13716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822192" y="224028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5B6BB5"/>
          </a:solidFill>
          <a:ln/>
        </p:spPr>
      </p:sp>
      <p:sp>
        <p:nvSpPr>
          <p:cNvPr id="24" name="Text 22"/>
          <p:cNvSpPr/>
          <p:nvPr/>
        </p:nvSpPr>
        <p:spPr>
          <a:xfrm>
            <a:off x="3822192" y="2240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23042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low confidence / unsupported / too many iterations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108960"/>
            <a:ext cx="5394960" cy="1298448"/>
          </a:xfrm>
          <a:prstGeom prst="roundRect">
            <a:avLst>
              <a:gd name="adj" fmla="val 7042"/>
            </a:avLst>
          </a:prstGeom>
          <a:solidFill>
            <a:srgbClr val="F4F7FE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2552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3566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below 0.4 → deterministic fallback: state the limitation, never invent an answer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3108960"/>
            <a:ext cx="5394960" cy="1298448"/>
          </a:xfrm>
          <a:prstGeom prst="roundRect">
            <a:avLst>
              <a:gd name="adj" fmla="val 7042"/>
            </a:avLst>
          </a:prstGeom>
          <a:solidFill>
            <a:srgbClr val="F4F7FE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2552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gate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3566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state-changing tool runs confirm=false (preview) until the user explicitly says yes — enforced by graph structure, unbypassable by prompts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590288"/>
            <a:ext cx="5394960" cy="1298448"/>
          </a:xfrm>
          <a:prstGeom prst="roundRect">
            <a:avLst>
              <a:gd name="adj" fmla="val 7042"/>
            </a:avLst>
          </a:prstGeom>
          <a:solidFill>
            <a:srgbClr val="F4F7FE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736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rules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" y="5047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6 iterations per turn; yes/no without a pending action routes to fallback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63640" y="4590288"/>
            <a:ext cx="5394960" cy="1298448"/>
          </a:xfrm>
          <a:prstGeom prst="roundRect">
            <a:avLst>
              <a:gd name="adj" fmla="val 7042"/>
            </a:avLst>
          </a:prstGeom>
          <a:solidFill>
            <a:srgbClr val="F4F7FE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4736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handoff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37960" y="5047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'Talk to a human' matches a regex — works even if the LLM is down — and files a traceable HANDOFF ticket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intent, tool call, validation failure, and fallback is logged to an agent_logs audit table.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Aseel   ·   7/10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memory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conversation: messages, user name and role. Lets a student say 'my GPA' without restating who they are.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6459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645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26060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task state: current intent, collected information, missing fields, pending confirmation, latest tool result, workflow state. Rendered live in the UI side panel.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0" y="137160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0" y="16459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5B6BB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645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0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0" y="26060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preferences persisted in SQLite across separate sessions (favorite courses, report settings).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110996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 the demo: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my GPA summary?" → the agent fills in the student from session memory; "And my transcript?" → the identifier carries over from the previous turn.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Aseel   ·   8/10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by tests, reproducible by Docker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4F7F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test conversations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4F7FE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5661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categories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4F7FE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metrics reported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52560" y="12801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4F7FE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2354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actions executed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hard cases: </a:t>
            </a:r>
            <a:pPr indent="0" marL="0">
              <a:buNone/>
            </a:pPr>
            <a:r>
              <a:rPr lang="en-US" sz="13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an attempt to skip the confirmation gate, duplicate actions, missing fields, out-of-domain requests, multi-turn memory. The runner refuses to produce a report if the LLM is unreachable.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grade it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4572000"/>
            <a:ext cx="4846320" cy="502920"/>
          </a:xfrm>
          <a:prstGeom prst="roundRect">
            <a:avLst>
              <a:gd name="adj" fmla="val 14545"/>
            </a:avLst>
          </a:prstGeom>
          <a:solidFill>
            <a:srgbClr val="141B45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572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212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3 services: local Ollama LLM, one-shot model pull, and the agent — no API keys, offline after first run.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39319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4F7FE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Production-minded packaging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57200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 user · only port 8501 exposed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on agent and LLM services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volumes persist database and pulled models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secrets; .env.example documents all variables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Aseel   ·   9/10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built what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987552"/>
          </a:xfrm>
          <a:prstGeom prst="roundRect">
            <a:avLst>
              <a:gd name="adj" fmla="val 9259"/>
            </a:avLst>
          </a:prstGeom>
          <a:solidFill>
            <a:srgbClr val="2A3878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536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Maryline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920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Engineer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74720" y="1417320"/>
            <a:ext cx="7589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typed tools, pydantic validation, SQLite schema additions, seed data, policies.json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587752"/>
            <a:ext cx="10515600" cy="987552"/>
          </a:xfrm>
          <a:prstGeom prst="roundRect">
            <a:avLst>
              <a:gd name="adj" fmla="val 9259"/>
            </a:avLst>
          </a:prstGeom>
          <a:solidFill>
            <a:srgbClr val="2A3878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7066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090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Engineer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0" y="2587752"/>
            <a:ext cx="7589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workflow, intent router and prompts, confirmation gate, fallback and handoff, stopping rules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758184"/>
            <a:ext cx="10515600" cy="987552"/>
          </a:xfrm>
          <a:prstGeom prst="roundRect">
            <a:avLst>
              <a:gd name="adj" fmla="val 9259"/>
            </a:avLst>
          </a:prstGeom>
          <a:solidFill>
            <a:srgbClr val="2A3878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8770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42611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Interface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3758184"/>
            <a:ext cx="7589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layers, Streamlit UI, Docker packaging, trace logging, evaluation suite, demo recording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of us can explain any component — ask us anything.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 declared in the technical report §10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2026-07-13T09:50:35Z</dcterms:created>
  <dcterms:modified xsi:type="dcterms:W3CDTF">2026-07-13T09:50:35Z</dcterms:modified>
</cp:coreProperties>
</file>